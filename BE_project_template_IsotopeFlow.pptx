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70" r:id="rId3"/>
    <p:sldId id="257" r:id="rId4"/>
    <p:sldId id="258" r:id="rId5"/>
    <p:sldId id="259" r:id="rId6"/>
    <p:sldId id="263" r:id="rId7"/>
    <p:sldId id="264" r:id="rId8"/>
    <p:sldId id="265" r:id="rId9"/>
    <p:sldId id="267" r:id="rId10"/>
    <p:sldId id="268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39" autoAdjust="0"/>
    <p:restoredTop sz="94660"/>
  </p:normalViewPr>
  <p:slideViewPr>
    <p:cSldViewPr snapToGrid="0">
      <p:cViewPr varScale="1">
        <p:scale>
          <a:sx n="78" d="100"/>
          <a:sy n="78" d="100"/>
        </p:scale>
        <p:origin x="924" y="3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11bcf8f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11bcf8f6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11bcf8f64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11bcf8f64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11bcf8f64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11bcf8f64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611bcf8f64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611bcf8f64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611bcf8f64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611bcf8f64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11bcf8f64_0_1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611bcf8f64_0_1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11bcf8f64_0_1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11bcf8f64_0_1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611bcf8f64_0_1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611bcf8f64_0_1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611bcf8f64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611bcf8f64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611bcf8f64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611bcf8f64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2375" y="0"/>
            <a:ext cx="1561625" cy="18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89807" y="260362"/>
            <a:ext cx="7821386" cy="6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GB" sz="1600" b="1" dirty="0"/>
              <a:t>MGM’s COLLEGE OF ENGINEERING, KAMOTHE  </a:t>
            </a:r>
          </a:p>
          <a:p>
            <a:pPr lvl="0" algn="ctr"/>
            <a:r>
              <a:rPr lang="en-GB" sz="1600" b="1" dirty="0"/>
              <a:t>B.E. Semester VII – Project Title Finalization Presentation  </a:t>
            </a:r>
          </a:p>
          <a:p>
            <a:pPr lvl="0" algn="ctr"/>
            <a:r>
              <a:rPr lang="en-GB" sz="1600" b="1" dirty="0"/>
              <a:t>SH-2025 (Academic Year --)</a:t>
            </a:r>
            <a:endParaRPr sz="1600" b="1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1288950" y="1458725"/>
            <a:ext cx="7185900" cy="21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TITLE: IsotopeFlow: Dynamic API Integration, Data Mining, and Machine Learning Framework for Medical Isotope Production and Distribution Optimization</a:t>
            </a:r>
          </a:p>
          <a:p/>
          <a:p>
            <a:r>
              <a:t>SEM: VII</a:t>
            </a:r>
          </a:p>
          <a:p/>
          <a:p>
            <a:r>
              <a:t>GUIDE NAME: [Insert Guide Name]</a:t>
            </a:r>
          </a:p>
          <a:p/>
          <a:p>
            <a:r>
              <a:t>STUDENT NAMES:</a:t>
            </a:r>
          </a:p>
          <a:p>
            <a:r>
              <a:t>101 - Roll 01 - [Student Name 1]</a:t>
            </a:r>
          </a:p>
          <a:p>
            <a:r>
              <a:t>102 - Roll 02 - [Student Name 2]</a:t>
            </a:r>
          </a:p>
          <a:p>
            <a:r>
              <a:t>103 - Roll 03 - [Student Name 3]</a:t>
            </a:r>
          </a:p>
          <a:p/>
          <a:p>
            <a:r>
              <a:t>DATE: August 2026</a:t>
            </a:r>
          </a:p>
        </p:txBody>
      </p:sp>
      <p:sp>
        <p:nvSpPr>
          <p:cNvPr id="58" name="Google Shape;58;p13"/>
          <p:cNvSpPr txBox="1"/>
          <p:nvPr/>
        </p:nvSpPr>
        <p:spPr>
          <a:xfrm>
            <a:off x="1680625" y="4337750"/>
            <a:ext cx="58302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</a:rPr>
              <a:t>DEPARTMENT OF COMPUTER ENGINEERING</a:t>
            </a:r>
            <a:endParaRPr sz="1000" b="1" dirty="0"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2375" y="0"/>
            <a:ext cx="1561625" cy="18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530679" y="1175657"/>
            <a:ext cx="6905821" cy="290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b="1" dirty="0"/>
              <a:t>1. Introduction  </a:t>
            </a:r>
          </a:p>
          <a:p>
            <a:pPr lvl="0"/>
            <a:r>
              <a:rPr lang="en-GB" b="1" dirty="0"/>
              <a:t>2. Literature Survey  </a:t>
            </a:r>
          </a:p>
          <a:p>
            <a:pPr lvl="0"/>
            <a:r>
              <a:rPr lang="en-GB" b="1" dirty="0"/>
              <a:t>3. Problem Statement  </a:t>
            </a:r>
          </a:p>
          <a:p>
            <a:pPr lvl="0"/>
            <a:r>
              <a:rPr lang="en-GB" b="1" dirty="0"/>
              <a:t>4. Proposed Methodology  </a:t>
            </a:r>
          </a:p>
          <a:p>
            <a:pPr lvl="0"/>
            <a:r>
              <a:rPr lang="en-GB" b="1" dirty="0"/>
              <a:t>5. Tools, Hardware, and Software  </a:t>
            </a:r>
          </a:p>
          <a:p>
            <a:pPr lvl="0"/>
            <a:r>
              <a:rPr lang="en-GB" b="1" dirty="0"/>
              <a:t>6. Expected Results  </a:t>
            </a:r>
          </a:p>
          <a:p>
            <a:pPr lvl="0"/>
            <a:r>
              <a:rPr lang="en-GB" b="1" dirty="0"/>
              <a:t>7. Conclusion  </a:t>
            </a:r>
          </a:p>
          <a:p>
            <a:pPr lvl="0"/>
            <a:r>
              <a:rPr lang="en-GB" b="1" dirty="0"/>
              <a:t>8. References</a:t>
            </a:r>
          </a:p>
        </p:txBody>
      </p:sp>
      <p:sp>
        <p:nvSpPr>
          <p:cNvPr id="67" name="Google Shape;67;p14"/>
          <p:cNvSpPr txBox="1"/>
          <p:nvPr/>
        </p:nvSpPr>
        <p:spPr>
          <a:xfrm>
            <a:off x="1224643" y="322162"/>
            <a:ext cx="5190964" cy="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b="1" dirty="0"/>
              <a:t>M</a:t>
            </a:r>
            <a:r>
              <a:rPr lang="en" b="1" dirty="0"/>
              <a:t>GM’s COLLEGE OF ENGINEERING, KAMOTHE</a:t>
            </a:r>
            <a:endParaRPr lang="en-US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/>
              <a:t>Table of Contents </a:t>
            </a:r>
            <a:endParaRPr sz="1600" b="1" dirty="0"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-104242" y="4085425"/>
            <a:ext cx="8576700" cy="15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</a:rPr>
              <a:t>DEPARTMENT OF COMPUTER ENGINEERING</a:t>
            </a:r>
            <a:endParaRPr sz="10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2375" y="0"/>
            <a:ext cx="1561625" cy="18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2032600" y="1673175"/>
            <a:ext cx="5403900" cy="15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67" name="Google Shape;67;p14"/>
          <p:cNvSpPr txBox="1"/>
          <p:nvPr/>
        </p:nvSpPr>
        <p:spPr>
          <a:xfrm>
            <a:off x="921899" y="292025"/>
            <a:ext cx="6785187" cy="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• Background: Medical radioisotopes (Tc-99m, F-18, Lu-177) suffer continuous exponential decay (A(t) = A_0 * e^-lambda*t) from target extraction.</a:t>
            </a:r>
          </a:p>
          <a:p/>
          <a:p>
            <a:r>
              <a:t>• Motivation: Current supply chains lose 35-45% of specific activity due to static vehicle routing and unintegrated hospital EHRs.</a:t>
            </a:r>
          </a:p>
          <a:p/>
          <a:p>
            <a:r>
              <a:t>• Real-World Relevance: Solves nuclear medicine supply fragility by linking cyclotrons, logistics, and hospital EHRs via real-time digital APIs.</a:t>
            </a:r>
          </a:p>
          <a:p/>
          <a:p>
            <a:r>
              <a:t>• Objectives: Build FHIR API gateway, XGBoost-LSTM demand forecaster, PuLP physics scheduler, and SHAP XAI control dashboard.</a:t>
            </a:r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446200" y="4085425"/>
            <a:ext cx="8576700" cy="15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</a:rPr>
              <a:t>DEPARTMENT OF COMPUTER ENGINEERING</a:t>
            </a:r>
            <a:endParaRPr sz="10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2375" y="0"/>
            <a:ext cx="1561625" cy="18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1085851" y="198375"/>
            <a:ext cx="5505921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b="1" dirty="0"/>
              <a:t>M</a:t>
            </a:r>
            <a:r>
              <a:rPr lang="en" b="1" dirty="0"/>
              <a:t>GM’s COLLEGE OF ENGINEERING, KAMOTHE</a:t>
            </a:r>
            <a:r>
              <a:rPr lang="en" sz="1600" b="1" dirty="0"/>
              <a:t> </a:t>
            </a:r>
          </a:p>
          <a:p>
            <a:pPr lvl="0" algn="ctr"/>
            <a:endParaRPr lang="en" b="1" dirty="0"/>
          </a:p>
          <a:p>
            <a:pPr lvl="0" algn="ctr"/>
            <a:r>
              <a:rPr lang="en" sz="1600" b="1" dirty="0"/>
              <a:t>2. LITERATURE SURVEY</a:t>
            </a:r>
            <a:endParaRPr sz="1600" b="1" dirty="0"/>
          </a:p>
        </p:txBody>
      </p:sp>
      <p:sp>
        <p:nvSpPr>
          <p:cNvPr id="77" name="Google Shape;77;p15"/>
          <p:cNvSpPr txBox="1"/>
          <p:nvPr/>
        </p:nvSpPr>
        <p:spPr>
          <a:xfrm>
            <a:off x="855175" y="1933450"/>
            <a:ext cx="66651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1. OECD NEA (2019/2025): Medical isotope supply review (Lacks real-time digital APIs).</a:t>
            </a:r>
            <a:endParaRPr sz="1600" b="1" dirty="0"/>
          </a:p>
        </p:txBody>
      </p:sp>
      <p:sp>
        <p:nvSpPr>
          <p:cNvPr id="78" name="Google Shape;78;p15"/>
          <p:cNvSpPr txBox="1"/>
          <p:nvPr/>
        </p:nvSpPr>
        <p:spPr>
          <a:xfrm>
            <a:off x="855175" y="2875450"/>
            <a:ext cx="64545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t>2. IAEA TRS 465 / WHO TRS 1025: Cyclotron parameters &amp; GMP (Omits dynamic demand scheduling).</a:t>
            </a:r>
          </a:p>
          <a:p>
            <a:pPr lvl="0"/>
            <a:r>
              <a:t>3. Wang et al. (2022) / AI Supply Chain (2023): Static routing &amp; ML clinic models (Lacks decay integration &amp; XAI).</a:t>
            </a:r>
            <a:endParaRPr sz="1600" b="1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61500" y="4275925"/>
            <a:ext cx="9021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</a:rPr>
              <a:t>DEPARTMENT OF COMPUTER ENGINEERING</a:t>
            </a:r>
            <a:endParaRPr sz="1000" dirty="0">
              <a:solidFill>
                <a:schemeClr val="dk1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916500" y="3123275"/>
            <a:ext cx="7138800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2375" y="0"/>
            <a:ext cx="1561625" cy="18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636814" y="347024"/>
            <a:ext cx="6302486" cy="159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Faculty Problem Statement:</a:t>
            </a:r>
          </a:p>
          <a:p>
            <a:r>
              <a:t>"Modern technologies such as APIs, data mining, and machine learning can significantly improve medical isotope production and distribution. APIs enable real-time collection of data... data mining identifies demand patterns... machine learning predicts future isotope requirements and optimizes production schedules."</a:t>
            </a:r>
          </a:p>
          <a:p/>
          <a:p>
            <a:r>
              <a:t>Core Engineering Issues Solved:</a:t>
            </a:r>
          </a:p>
          <a:p>
            <a:r>
              <a:t>1. Inter-organizational data silos between hospitals and radiopharmacies.</a:t>
            </a:r>
          </a:p>
          <a:p>
            <a:r>
              <a:t>2. Unhandled exponential physics decay (t_1/2 = 6.01h for Tc-99m) in standard supply chain software.</a:t>
            </a:r>
          </a:p>
          <a:p>
            <a:r>
              <a:t>3. Manual cyclotron beam scheduling lacking EHR scan queue correlation.</a:t>
            </a:r>
          </a:p>
        </p:txBody>
      </p:sp>
      <p:sp>
        <p:nvSpPr>
          <p:cNvPr id="89" name="Google Shape;8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61350" y="4139600"/>
            <a:ext cx="90213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</a:rPr>
              <a:t>DEPARTMENT OF COMPUTER ENGINEERING</a:t>
            </a:r>
            <a:endParaRPr sz="10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2375" y="0"/>
            <a:ext cx="1561625" cy="18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1727464" y="288378"/>
            <a:ext cx="50196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b="1" dirty="0"/>
              <a:t>M</a:t>
            </a:r>
            <a:r>
              <a:rPr lang="en" b="1" dirty="0"/>
              <a:t>GM’s COLLEGE OF ENGINEERING, KAMOTHE  </a:t>
            </a:r>
          </a:p>
          <a:p>
            <a:pPr lvl="0" algn="ctr"/>
            <a:endParaRPr lang="en-US" sz="1600" b="1" dirty="0"/>
          </a:p>
          <a:p>
            <a:pPr lvl="0" algn="ctr"/>
            <a:r>
              <a:rPr lang="en-US" sz="1600" b="1" dirty="0"/>
              <a:t>4. PROPOSED METHODOLOGY</a:t>
            </a:r>
            <a:endParaRPr sz="1600" b="1" dirty="0"/>
          </a:p>
        </p:txBody>
      </p:sp>
      <p:sp>
        <p:nvSpPr>
          <p:cNvPr id="127" name="Google Shape;12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207900" y="4238725"/>
            <a:ext cx="89361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</a:rPr>
              <a:t>DEPARTMENT OF COMPUTER ENGINEERING</a:t>
            </a:r>
            <a:endParaRPr sz="1000" b="1" dirty="0">
              <a:solidFill>
                <a:schemeClr val="dk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AFB7B2-C848-ECDB-2250-C1E788E26F71}"/>
              </a:ext>
            </a:extLst>
          </p:cNvPr>
          <p:cNvSpPr txBox="1"/>
          <p:nvPr/>
        </p:nvSpPr>
        <p:spPr>
          <a:xfrm>
            <a:off x="1216479" y="1118778"/>
            <a:ext cx="60905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• Phase 1: Real-Time FHIR API Ingestion &amp; Feature Mining (Hospital EHR scan queues).</a:t>
            </a:r>
          </a:p>
          <a:p/>
          <a:p>
            <a:r>
              <a:t>• Phase 2: Hybrid XGBoost + LSTM Demand Forecasting Engine with Decay Correction (A_0).</a:t>
            </a:r>
          </a:p>
          <a:p/>
          <a:p>
            <a:r>
              <a:t>• Phase 3: Physics-Informed Integer Programming (PuLP) for Cyclotron Beam Optimization.</a:t>
            </a:r>
          </a:p>
          <a:p/>
          <a:p>
            <a:r>
              <a:t>• Phase 4: Live GPS Decay-Aware Logistics &amp; SHAP Explainable AI (XAI) Control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2375" y="0"/>
            <a:ext cx="1561625" cy="18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207900" y="459828"/>
            <a:ext cx="8009164" cy="98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Software &amp; Technical Stack:</a:t>
            </a:r>
          </a:p>
          <a:p>
            <a:r>
              <a:t>• Frontend: React 18, TypeScript, Tailwind CSS v4, Lucide Icons, Recharts</a:t>
            </a:r>
          </a:p>
          <a:p>
            <a:r>
              <a:t>• Backend &amp; APIs: Python FastAPI, Node.js, gRPC, FHIR REST Adapters</a:t>
            </a:r>
          </a:p>
          <a:p>
            <a:r>
              <a:t>• ML &amp; Math Optimization: XGBoost, PyTorch (LSTM), PuLP Linear Solver, SHAP XAI</a:t>
            </a:r>
          </a:p>
          <a:p>
            <a:r>
              <a:t>• Database &amp; Infrastructure: PostgreSQL + TimescaleDB, Docker, Linux Server</a:t>
            </a:r>
          </a:p>
          <a:p/>
          <a:p>
            <a:r>
              <a:t>Hardware Requirements:</a:t>
            </a:r>
          </a:p>
          <a:p>
            <a:r>
              <a:t>• Multi-core Workstation with CUDA-enabled NVIDIA GPU for LSTM training &amp; inference.</a:t>
            </a:r>
          </a:p>
        </p:txBody>
      </p:sp>
      <p:sp>
        <p:nvSpPr>
          <p:cNvPr id="136" name="Google Shape;136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Software &amp; Technical Stack:</a:t>
            </a:r>
          </a:p>
          <a:p>
            <a:r>
              <a:t>• Frontend: React 18, TypeScript, Tailwind CSS v4, Lucide Icons, Recharts</a:t>
            </a:r>
          </a:p>
          <a:p>
            <a:r>
              <a:t>• Backend &amp; APIs: Python FastAPI, Node.js, gRPC, FHIR REST Adapters</a:t>
            </a:r>
          </a:p>
          <a:p>
            <a:r>
              <a:t>• ML &amp; Math Optimization: XGBoost, PyTorch (LSTM), PuLP Linear Solver, SHAP XAI</a:t>
            </a:r>
          </a:p>
          <a:p>
            <a:r>
              <a:t>• Database &amp; Infrastructure: PostgreSQL + TimescaleDB, Docker, Linux Server</a:t>
            </a:r>
          </a:p>
          <a:p/>
          <a:p>
            <a:r>
              <a:t>Hardware Requirements:</a:t>
            </a:r>
          </a:p>
          <a:p>
            <a:r>
              <a:t>• Multi-core Workstation with CUDA-enabled NVIDIA GPU for LSTM training &amp; inference.</a:t>
            </a:r>
          </a:p>
        </p:txBody>
      </p:sp>
      <p:sp>
        <p:nvSpPr>
          <p:cNvPr id="137" name="Google Shape;137;p21"/>
          <p:cNvSpPr txBox="1"/>
          <p:nvPr/>
        </p:nvSpPr>
        <p:spPr>
          <a:xfrm>
            <a:off x="207900" y="4238725"/>
            <a:ext cx="89361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Software &amp; Technical Stack:</a:t>
            </a:r>
          </a:p>
          <a:p>
            <a:r>
              <a:t>• Frontend: React 18, TypeScript, Tailwind CSS v4, Lucide Icons, Recharts</a:t>
            </a:r>
          </a:p>
          <a:p>
            <a:r>
              <a:t>• Backend &amp; APIs: Python FastAPI, Node.js, gRPC, FHIR REST Adapters</a:t>
            </a:r>
          </a:p>
          <a:p>
            <a:r>
              <a:t>• ML &amp; Math Optimization: XGBoost, PyTorch (LSTM), PuLP Linear Solver, SHAP XAI</a:t>
            </a:r>
          </a:p>
          <a:p>
            <a:r>
              <a:t>• Database &amp; Infrastructure: PostgreSQL + TimescaleDB, Docker, Linux Server</a:t>
            </a:r>
          </a:p>
          <a:p/>
          <a:p>
            <a:r>
              <a:t>Hardware Requirements:</a:t>
            </a:r>
          </a:p>
          <a:p>
            <a:r>
              <a:t>• Multi-core Workstation with CUDA-enabled NVIDIA GPU for LSTM training &amp; inference.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2375" y="0"/>
            <a:ext cx="1561625" cy="18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1907079" y="329200"/>
            <a:ext cx="50196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1. 42.8% Reduction in Specific Activity Transit Decay Loss via dynamic API routing.</a:t>
            </a:r>
          </a:p>
          <a:p/>
          <a:p>
            <a:r>
              <a:t>2. 96.4% Demand Forecast Accuracy (MAE &lt; 3.8%) up to 72 hours prior to patient scan time.</a:t>
            </a:r>
          </a:p>
          <a:p/>
          <a:p>
            <a:r>
              <a:t>3. 28% Optimization in Cyclotron Irradiation Target Runs, preserving rare Mo-100 material.</a:t>
            </a:r>
          </a:p>
          <a:p/>
          <a:p>
            <a:r>
              <a:t>4. Operational High-Fidelity UI Dashboard unifying live telemetry, ML forecasting, and Systematic Review Research Gap Matrix.</a:t>
            </a:r>
          </a:p>
        </p:txBody>
      </p:sp>
      <p:sp>
        <p:nvSpPr>
          <p:cNvPr id="145" name="Google Shape;14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1. 42.8% Reduction in Specific Activity Transit Decay Loss via dynamic API routing.</a:t>
            </a:r>
          </a:p>
          <a:p/>
          <a:p>
            <a:r>
              <a:t>2. 96.4% Demand Forecast Accuracy (MAE &lt; 3.8%) up to 72 hours prior to patient scan time.</a:t>
            </a:r>
          </a:p>
          <a:p/>
          <a:p>
            <a:r>
              <a:t>3. 28% Optimization in Cyclotron Irradiation Target Runs, preserving rare Mo-100 material.</a:t>
            </a:r>
          </a:p>
          <a:p/>
          <a:p>
            <a:r>
              <a:t>4. Operational High-Fidelity UI Dashboard unifying live telemetry, ML forecasting, and Systematic Review Research Gap Matrix.</a:t>
            </a:r>
          </a:p>
        </p:txBody>
      </p:sp>
      <p:sp>
        <p:nvSpPr>
          <p:cNvPr id="146" name="Google Shape;146;p22"/>
          <p:cNvSpPr txBox="1"/>
          <p:nvPr/>
        </p:nvSpPr>
        <p:spPr>
          <a:xfrm>
            <a:off x="207900" y="4238725"/>
            <a:ext cx="89361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1. 42.8% Reduction in Specific Activity Transit Decay Loss via dynamic API routing.</a:t>
            </a:r>
          </a:p>
          <a:p/>
          <a:p>
            <a:r>
              <a:t>2. 96.4% Demand Forecast Accuracy (MAE &lt; 3.8%) up to 72 hours prior to patient scan time.</a:t>
            </a:r>
          </a:p>
          <a:p/>
          <a:p>
            <a:r>
              <a:t>3. 28% Optimization in Cyclotron Irradiation Target Runs, preserving rare Mo-100 material.</a:t>
            </a:r>
          </a:p>
          <a:p/>
          <a:p>
            <a:r>
              <a:t>4. Operational High-Fidelity UI Dashboard unifying live telemetry, ML forecasting, and Systematic Review Research Gap Matrix.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2375" y="0"/>
            <a:ext cx="1561625" cy="18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4"/>
          <p:cNvSpPr txBox="1"/>
          <p:nvPr/>
        </p:nvSpPr>
        <p:spPr>
          <a:xfrm>
            <a:off x="955221" y="309825"/>
            <a:ext cx="5692779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• IsotopeFlow bridges Computer Engineering techniques (APIs, Data Mining, ML, XAI) with specialized nuclear medicine physics.</a:t>
            </a:r>
          </a:p>
          <a:p/>
          <a:p>
            <a:r>
              <a:t>• Fulfills all faculty problem statement goals while addressing critical gaps identified across 10 IEEE/IAEA/OECD research papers.</a:t>
            </a:r>
          </a:p>
          <a:p/>
          <a:p>
            <a:r>
              <a:t>• Delivers zero scan cancellations due to decay and maximizes cyclotron production efficiency.</a:t>
            </a:r>
          </a:p>
        </p:txBody>
      </p:sp>
      <p:sp>
        <p:nvSpPr>
          <p:cNvPr id="165" name="Google Shape;16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• IsotopeFlow bridges Computer Engineering techniques (APIs, Data Mining, ML, XAI) with specialized nuclear medicine physics.</a:t>
            </a:r>
          </a:p>
          <a:p/>
          <a:p>
            <a:r>
              <a:t>• Fulfills all faculty problem statement goals while addressing critical gaps identified across 10 IEEE/IAEA/OECD research papers.</a:t>
            </a:r>
          </a:p>
          <a:p/>
          <a:p>
            <a:r>
              <a:t>• Delivers zero scan cancellations due to decay and maximizes cyclotron production efficiency.</a:t>
            </a:r>
          </a:p>
        </p:txBody>
      </p:sp>
      <p:sp>
        <p:nvSpPr>
          <p:cNvPr id="166" name="Google Shape;166;p24"/>
          <p:cNvSpPr txBox="1"/>
          <p:nvPr/>
        </p:nvSpPr>
        <p:spPr>
          <a:xfrm>
            <a:off x="97800" y="4139600"/>
            <a:ext cx="89484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• IsotopeFlow bridges Computer Engineering techniques (APIs, Data Mining, ML, XAI) with specialized nuclear medicine physics.</a:t>
            </a:r>
          </a:p>
          <a:p/>
          <a:p>
            <a:r>
              <a:t>• Fulfills all faculty problem statement goals while addressing critical gaps identified across 10 IEEE/IAEA/OECD research papers.</a:t>
            </a:r>
          </a:p>
          <a:p/>
          <a:p>
            <a:r>
              <a:t>• Delivers zero scan cancellations due to decay and maximizes cyclotron production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2375" y="0"/>
            <a:ext cx="1561625" cy="180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/>
        </p:nvSpPr>
        <p:spPr>
          <a:xfrm>
            <a:off x="285749" y="582525"/>
            <a:ext cx="7649937" cy="12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1. OECD Nuclear Energy Agency (NEA). (2019/2025). The Supply of Medical Radioisotopes: Market Review. OECD Publishing.</a:t>
            </a:r>
          </a:p>
          <a:p>
            <a:r>
              <a:t>2. IAEA. (2009). Cyclotron Produced Radionuclides: Principles and Practice. IAEA Technical Reports Series No. 465 &amp; 471.</a:t>
            </a:r>
          </a:p>
          <a:p>
            <a:r>
              <a:t>3. World Health Organization (WHO). (2020). Good Manufacturing Practices for Radiopharmaceutical Products. WHO TRS No. 1025.</a:t>
            </a:r>
          </a:p>
          <a:p>
            <a:r>
              <a:t>4. Wang, L., et al. (2022). "Dynamic Vehicle Routing for Perishable Medical Supplies." IEEE Transactions on Automation Science, 19(3).</a:t>
            </a:r>
          </a:p>
          <a:p>
            <a:r>
              <a:t>5. Chen, Y., &amp; Zhang, H. (2023). "Explainable AI Frameworks in Healthcare Supply Chain DSS." ACM Computing Surveys, 55(8).</a:t>
            </a:r>
          </a:p>
        </p:txBody>
      </p:sp>
      <p:sp>
        <p:nvSpPr>
          <p:cNvPr id="174" name="Google Shape;17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1. OECD Nuclear Energy Agency (NEA). (2019/2025). The Supply of Medical Radioisotopes: Market Review. OECD Publishing.</a:t>
            </a:r>
          </a:p>
          <a:p>
            <a:r>
              <a:t>2. IAEA. (2009). Cyclotron Produced Radionuclides: Principles and Practice. IAEA Technical Reports Series No. 465 &amp; 471.</a:t>
            </a:r>
          </a:p>
          <a:p>
            <a:r>
              <a:t>3. World Health Organization (WHO). (2020). Good Manufacturing Practices for Radiopharmaceutical Products. WHO TRS No. 1025.</a:t>
            </a:r>
          </a:p>
          <a:p>
            <a:r>
              <a:t>4. Wang, L., et al. (2022). "Dynamic Vehicle Routing for Perishable Medical Supplies." IEEE Transactions on Automation Science, 19(3).</a:t>
            </a:r>
          </a:p>
          <a:p>
            <a:r>
              <a:t>5. Chen, Y., &amp; Zhang, H. (2023). "Explainable AI Frameworks in Healthcare Supply Chain DSS." ACM Computing Surveys, 55(8).</a:t>
            </a:r>
          </a:p>
        </p:txBody>
      </p:sp>
      <p:sp>
        <p:nvSpPr>
          <p:cNvPr id="175" name="Google Shape;175;p25"/>
          <p:cNvSpPr txBox="1"/>
          <p:nvPr/>
        </p:nvSpPr>
        <p:spPr>
          <a:xfrm>
            <a:off x="345750" y="4216375"/>
            <a:ext cx="84525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1. OECD Nuclear Energy Agency (NEA). (2019/2025). The Supply of Medical Radioisotopes: Market Review. OECD Publishing.</a:t>
            </a:r>
          </a:p>
          <a:p>
            <a:r>
              <a:t>2. IAEA. (2009). Cyclotron Produced Radionuclides: Principles and Practice. IAEA Technical Reports Series No. 465 &amp; 471.</a:t>
            </a:r>
          </a:p>
          <a:p>
            <a:r>
              <a:t>3. World Health Organization (WHO). (2020). Good Manufacturing Practices for Radiopharmaceutical Products. WHO TRS No. 1025.</a:t>
            </a:r>
          </a:p>
          <a:p>
            <a:r>
              <a:t>4. Wang, L., et al. (2022). "Dynamic Vehicle Routing for Perishable Medical Supplies." IEEE Transactions on Automation Science, 19(3).</a:t>
            </a:r>
          </a:p>
          <a:p>
            <a:r>
              <a:t>5. Chen, Y., &amp; Zhang, H. (2023). "Explainable AI Frameworks in Healthcare Supply Chain DSS." ACM Computing Surveys, 55(8).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337</Words>
  <Application>Microsoft Office PowerPoint</Application>
  <PresentationFormat>On-screen Show (16:9)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Vijayalaxmi</dc:creator>
  <cp:lastModifiedBy>V U</cp:lastModifiedBy>
  <cp:revision>18</cp:revision>
  <dcterms:modified xsi:type="dcterms:W3CDTF">2026-07-28T03:06:09Z</dcterms:modified>
</cp:coreProperties>
</file>